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1111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60">
                <a:solidFill>
                  <a:srgbClr val="5B2EC4"/>
                </a:solidFill>
                <a:latin typeface="Consolas"/>
              </a:rPr>
              <a:t>STAGE · ANALYSE DE SENTIMENT · 31 JUILLET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22000"/>
            <a:ext cx="10320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41422"/>
                </a:solidFill>
                <a:latin typeface="Segoe UI"/>
              </a:rPr>
              <a:t>Superviser la satisfaction client des opérateurs télécoms africains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2000" y="324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spc="100">
                <a:solidFill>
                  <a:srgbClr val="6B6B82"/>
                </a:solidFill>
                <a:latin typeface="Consolas"/>
              </a:rPr>
              <a:t>01 /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026000"/>
            <a:ext cx="11112000" cy="9525"/>
          </a:xfrm>
          <a:prstGeom prst="rect">
            <a:avLst/>
          </a:prstGeom>
          <a:solidFill>
            <a:srgbClr val="DE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6667200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41422"/>
                </a:solidFill>
                <a:latin typeface="Segoe UI"/>
              </a:rPr>
              <a:t>Collecter en continu ce que les clients écrivent sur les opérateurs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41422"/>
                </a:solidFill>
                <a:latin typeface="Segoe UI"/>
              </a:rPr>
              <a:t>télécoms d'Afrique, en mesurer le sentiment, et rendre le résultat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41422"/>
                </a:solidFill>
                <a:latin typeface="Segoe UI"/>
              </a:rPr>
              <a:t>comparable d'une filiale, d'un pays et d'un opérateur à l'autre.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520000"/>
            <a:ext cx="6667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6B82"/>
                </a:solidFill>
                <a:latin typeface="Segoe UI"/>
              </a:rPr>
              <a:t>La première priorité fixée au cadrage était la chaîne complète :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6B82"/>
                </a:solidFill>
                <a:latin typeface="Segoe UI"/>
              </a:rPr>
              <a:t>collecte → analyse → dashboard temps réel → alerting.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6B82"/>
                </a:solidFill>
                <a:latin typeface="Segoe UI"/>
              </a:rPr>
              <a:t>Elle est en place et fonctionne de bout en bout.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51680" y="1260000"/>
            <a:ext cx="4000320" cy="11808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8480" y="1396800"/>
            <a:ext cx="372672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10">
                <a:solidFill>
                  <a:srgbClr val="5B2EC4"/>
                </a:solidFill>
                <a:latin typeface="Consolas"/>
              </a:rPr>
              <a:t>QUATRE QUESTIONS AUXQUELLES RÉPONDRE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8480" y="1584000"/>
            <a:ext cx="37267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Où la satisfaction se dégrade-t-elle ?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Quelle filiale décroche, et de combien ?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De quoi les clients se plaignent-ils ?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Comment être averti sans regarder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3744000"/>
            <a:ext cx="2710500" cy="936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800" y="3880800"/>
            <a:ext cx="24369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0">
                <a:solidFill>
                  <a:srgbClr val="6B6B82"/>
                </a:solidFill>
                <a:latin typeface="Consolas"/>
              </a:rPr>
              <a:t>PÉRIMÈTRE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800" y="4042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41422"/>
                </a:solidFill>
                <a:latin typeface="Segoe UI"/>
              </a:rPr>
              <a:t>54 pays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800" y="4348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62 opérateurs · 132 filiales,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tous couverts par la collecte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0500" y="3744000"/>
            <a:ext cx="2710500" cy="936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7300" y="3880800"/>
            <a:ext cx="24369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0">
                <a:solidFill>
                  <a:srgbClr val="6B6B82"/>
                </a:solidFill>
                <a:latin typeface="Consolas"/>
              </a:rPr>
              <a:t>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7300" y="4042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41422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7300" y="4348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4 actives, 1 sans cible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1000" y="3744000"/>
            <a:ext cx="2710500" cy="936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7800" y="3880800"/>
            <a:ext cx="24369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0">
                <a:solidFill>
                  <a:srgbClr val="6B6B82"/>
                </a:solidFill>
                <a:latin typeface="Consolas"/>
              </a:rPr>
              <a:t>CONTENUS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7800" y="4042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41422"/>
                </a:solidFill>
                <a:latin typeface="Segoe UI"/>
              </a:rPr>
              <a:t>24 474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800" y="4348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8 266 avis · 16 208 articles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41500" y="3744000"/>
            <a:ext cx="2710500" cy="936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8300" y="3880800"/>
            <a:ext cx="24369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0">
                <a:solidFill>
                  <a:srgbClr val="6B6B82"/>
                </a:solidFill>
                <a:latin typeface="Consolas"/>
              </a:rPr>
              <a:t>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8300" y="4042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41422"/>
                </a:solidFill>
                <a:latin typeface="Segoe UI"/>
              </a:rPr>
              <a:t>113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8300" y="4348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102 exécutions du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1111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60">
                <a:solidFill>
                  <a:srgbClr val="5B2EC4"/>
                </a:solidFill>
                <a:latin typeface="Consolas"/>
              </a:rPr>
              <a:t>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22000"/>
            <a:ext cx="10320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41422"/>
                </a:solidFill>
                <a:latin typeface="Segoe UI"/>
              </a:rPr>
              <a:t>Ce qui a été construit, étape par étape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2000" y="324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spc="100">
                <a:solidFill>
                  <a:srgbClr val="6B6B82"/>
                </a:solidFill>
                <a:latin typeface="Consolas"/>
              </a:rPr>
              <a:t>02 /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026000"/>
            <a:ext cx="11112000" cy="9525"/>
          </a:xfrm>
          <a:prstGeom prst="rect">
            <a:avLst/>
          </a:prstGeom>
          <a:solidFill>
            <a:srgbClr val="DE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188000"/>
            <a:ext cx="11112000" cy="737999"/>
          </a:xfrm>
          <a:prstGeom prst="rect">
            <a:avLst/>
          </a:prstGeom>
          <a:solidFill>
            <a:srgbClr val="FAFAFC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86000"/>
            <a:ext cx="32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5B2EC4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1313999"/>
            <a:ext cx="72000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41422"/>
                </a:solidFill>
                <a:latin typeface="Segoe UI"/>
              </a:rPr>
              <a:t>Architecture et modèle de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530000"/>
            <a:ext cx="1039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Couches séparées, modèle dimensionnel en étoile : un avis devient une filiale,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un opérateur, un pays, une région — c'est ce qui rend le filtrage possible.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990799"/>
            <a:ext cx="11112000" cy="737999"/>
          </a:xfrm>
          <a:prstGeom prst="rect">
            <a:avLst/>
          </a:prstGeom>
          <a:solidFill>
            <a:srgbClr val="FAFAFC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188799"/>
            <a:ext cx="32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5B2EC4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2116798"/>
            <a:ext cx="72000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41422"/>
                </a:solidFill>
                <a:latin typeface="Segoe UI"/>
              </a:rPr>
              <a:t>Cinq connecteurs de collecte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2332799"/>
            <a:ext cx="1039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App Store, Play Store, Google Maps, Google News, Trustpilot.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Collecte incrémentale, identifiants vérifiés contre les vraies boutiques.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793598"/>
            <a:ext cx="11112000" cy="737999"/>
          </a:xfrm>
          <a:prstGeom prst="rect">
            <a:avLst/>
          </a:prstGeom>
          <a:solidFill>
            <a:srgbClr val="FAFAFC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2991598"/>
            <a:ext cx="32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5B2EC4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000" y="2919597"/>
            <a:ext cx="72000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41422"/>
                </a:solidFill>
                <a:latin typeface="Segoe UI"/>
              </a:rPr>
              <a:t>Moteur d'analyse de 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000" y="3135598"/>
            <a:ext cx="1039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Lexique FR / EN / arabe, négation et intensificateurs, appris sur le corpus.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Exactitude portée de 42,7 % à 70,3 % ; rappel sur les négatifs de 32 % à 78 %.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596397"/>
            <a:ext cx="11112000" cy="737999"/>
          </a:xfrm>
          <a:prstGeom prst="rect">
            <a:avLst/>
          </a:prstGeom>
          <a:solidFill>
            <a:srgbClr val="FAFAFC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000" y="3794397"/>
            <a:ext cx="32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5B2EC4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000" y="3722396"/>
            <a:ext cx="72000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41422"/>
                </a:solidFill>
                <a:latin typeface="Segoe UI"/>
              </a:rPr>
              <a:t>Dashboard de restitution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000" y="3938397"/>
            <a:ext cx="1039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Six écrans et un filtre unique partagé : période, pays, opérateur, filiale.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Tous les écrans décrivent forcément le même périmètre au même instant.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4399196"/>
            <a:ext cx="11112000" cy="737999"/>
          </a:xfrm>
          <a:prstGeom prst="rect">
            <a:avLst/>
          </a:prstGeom>
          <a:solidFill>
            <a:srgbClr val="FAFAFC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000" y="4597196"/>
            <a:ext cx="32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5B2EC4"/>
                </a:solidFill>
                <a:latin typeface="Consola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000" y="4525195"/>
            <a:ext cx="72000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41422"/>
                </a:solidFill>
                <a:latin typeface="Segoe UI"/>
              </a:rPr>
              <a:t>Alerting sur pic de mécontentement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000" y="4741196"/>
            <a:ext cx="10392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Fenêtre de 7 jours comparée à la précédente, seuils calibrés sur les données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réelles, silence de 24 h contre la répétition.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1111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60">
                <a:solidFill>
                  <a:srgbClr val="5B2EC4"/>
                </a:solidFill>
                <a:latin typeface="Consolas"/>
              </a:rPr>
              <a:t>STACK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22000"/>
            <a:ext cx="10320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41422"/>
                </a:solidFill>
                <a:latin typeface="Segoe UI"/>
              </a:rPr>
              <a:t>Des choix guidés par la sobriété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2000" y="324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spc="100">
                <a:solidFill>
                  <a:srgbClr val="6B6B82"/>
                </a:solidFill>
                <a:latin typeface="Consolas"/>
              </a:rPr>
              <a:t>03 /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026000"/>
            <a:ext cx="11112000" cy="9525"/>
          </a:xfrm>
          <a:prstGeom prst="rect">
            <a:avLst/>
          </a:prstGeom>
          <a:solidFill>
            <a:srgbClr val="DE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188000"/>
            <a:ext cx="11112000" cy="3420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332000"/>
            <a:ext cx="10752000" cy="30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 COLLECTE                ANALYSE            STOCKAGE           RESTITUTION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┌─────────────────┐    ┌────────────┐    ┌──────────────┐    ┌──────────────┐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│ App Store   API │    │            │    │  PostgreSQL  │    │  Dashboard   │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│ Play Store  API │    │  Sentiment │    │              │    │  6 onglets   │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│ Google News RSS │───▶│  lexical   │───▶│  modèle en   │───▶│  + filtre    │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│ Google Maps  PW │    │  FR/EN/AR  │    │  étoile      │    │    global    │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│ Trustpilot   ✗  │    │            │    │              │    │              │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└─────────────────┘    └────────────┘    └──────────────┘    └──────────────┘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      │                     │                  │                   │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      ▼                     ▼                  ▼                   ▼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incrémentale          score continu      132 filiales        période × pays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arrêt anticipé        + motifs           62 opérateurs        × opérateur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−45 % de trafic       déclenchés         54 pays              × filiale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                                               │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                                               ▼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                                        ALERTING métier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E3E52"/>
                </a:solidFill>
                <a:latin typeface="Consolas"/>
              </a:rPr>
              <a:t>                                          pic sur 7 jours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374000"/>
            <a:ext cx="107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40">
                <a:solidFill>
                  <a:srgbClr val="6B6B82"/>
                </a:solidFill>
                <a:latin typeface="Consolas"/>
              </a:rPr>
              <a:t>API = interrogation directe · RSS = flux · PW = navigateur piloté (Playwright)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4788000"/>
            <a:ext cx="3644000" cy="11808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800" y="4924800"/>
            <a:ext cx="33704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10">
                <a:solidFill>
                  <a:srgbClr val="5B2EC4"/>
                </a:solidFill>
                <a:latin typeface="Consola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800" y="5112000"/>
            <a:ext cx="33704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Python 3.10 · FastAPI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PostgreSQL 15 · psycopg2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Playwright · APScheduler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Docker Compose, 3 conteneurs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4000" y="4788000"/>
            <a:ext cx="3644000" cy="11808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0800" y="4924800"/>
            <a:ext cx="33704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10">
                <a:solidFill>
                  <a:srgbClr val="5B2EC4"/>
                </a:solidFill>
                <a:latin typeface="Consolas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0800" y="5112000"/>
            <a:ext cx="33704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React 18 · TypeScript · Vite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Recharts · TanStack Query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Tailwind CSS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d3-geo pour la carte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8000" y="4788000"/>
            <a:ext cx="3644000" cy="11808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4800" y="4924800"/>
            <a:ext cx="33704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10">
                <a:solidFill>
                  <a:srgbClr val="5B2EC4"/>
                </a:solidFill>
                <a:latin typeface="Consolas"/>
              </a:rPr>
              <a:t>CHOIX ASSUMÉS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4800" y="5112000"/>
            <a:ext cx="33704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Aucun modèle NLP à télécharger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Lexique appris sur le corpus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Explicabilité conservée</a:t>
            </a:r>
          </a:p>
          <a:p>
            <a:pPr algn="l">
              <a:lnSpc>
                <a:spcPct val="145000"/>
              </a:lnSpc>
            </a:pPr>
            <a:r>
              <a:rPr sz="950" b="0">
                <a:solidFill>
                  <a:srgbClr val="3E3E52"/>
                </a:solidFill>
                <a:latin typeface="Segoe UI"/>
              </a:rPr>
              <a:t>Zéro dépendance lourde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1111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60">
                <a:solidFill>
                  <a:srgbClr val="5B2EC4"/>
                </a:solidFill>
                <a:latin typeface="Consolas"/>
              </a:rPr>
              <a:t>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22000"/>
            <a:ext cx="10320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41422"/>
                </a:solidFill>
                <a:latin typeface="Segoe UI"/>
              </a:rPr>
              <a:t>Où en est le système, et ce qui vient ensuite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2000" y="324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 spc="100">
                <a:solidFill>
                  <a:srgbClr val="6B6B82"/>
                </a:solidFill>
                <a:latin typeface="Consolas"/>
              </a:rPr>
              <a:t>04 /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026000"/>
            <a:ext cx="11112000" cy="9525"/>
          </a:xfrm>
          <a:prstGeom prst="rect">
            <a:avLst/>
          </a:prstGeom>
          <a:solidFill>
            <a:srgbClr val="DE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188000"/>
            <a:ext cx="2710500" cy="900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800" y="1324800"/>
            <a:ext cx="24369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0">
                <a:solidFill>
                  <a:srgbClr val="6B6B82"/>
                </a:solidFill>
                <a:latin typeface="Consolas"/>
              </a:rPr>
              <a:t>CONTENUS COLLECTÉS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800" y="1486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41422"/>
                </a:solidFill>
                <a:latin typeface="Segoe UI"/>
              </a:rPr>
              <a:t>24 474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800" y="1792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8 266 avis clients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16 208 articles de presse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0500" y="1188000"/>
            <a:ext cx="2710500" cy="900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7300" y="1324800"/>
            <a:ext cx="24369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0">
                <a:solidFill>
                  <a:srgbClr val="6B6B82"/>
                </a:solidFill>
                <a:latin typeface="Consolas"/>
              </a:rPr>
              <a:t>ANALYSÉ AU SEUIL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7300" y="1486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41422"/>
                </a:solidFill>
                <a:latin typeface="Segoe UI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7300" y="1792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filiales à ≥ 10 avis clients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000" y="1188000"/>
            <a:ext cx="2710500" cy="900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7800" y="1324800"/>
            <a:ext cx="24369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0">
                <a:solidFill>
                  <a:srgbClr val="6B6B82"/>
                </a:solidFill>
                <a:latin typeface="Consolas"/>
              </a:rPr>
              <a:t>PART DE NÉGATIFS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7800" y="1486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41422"/>
                </a:solidFill>
                <a:latin typeface="Segoe UI"/>
              </a:rPr>
              <a:t>46,0 %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800" y="1792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sur les avis clients ;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la presse comptée à part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41500" y="1188000"/>
            <a:ext cx="2710500" cy="900000"/>
          </a:xfrm>
          <a:prstGeom prst="rect">
            <a:avLst/>
          </a:prstGeom>
          <a:solidFill>
            <a:srgbClr val="F6F6F9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8300" y="1324800"/>
            <a:ext cx="24369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0">
                <a:solidFill>
                  <a:srgbClr val="6B6B82"/>
                </a:solidFill>
                <a:latin typeface="Consolas"/>
              </a:rPr>
              <a:t>ALERTES PRODUITES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8300" y="1486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41422"/>
                </a:solidFill>
                <a:latin typeface="Segoe UI"/>
              </a:rPr>
              <a:t>258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8300" y="1792800"/>
            <a:ext cx="24369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métier et technique,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6B6B82"/>
                </a:solidFill>
                <a:latin typeface="Segoe UI"/>
              </a:rPr>
              <a:t>séparées à l'affichage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2268000"/>
            <a:ext cx="11112000" cy="864000"/>
          </a:xfrm>
          <a:prstGeom prst="rect">
            <a:avLst/>
          </a:prstGeom>
          <a:solidFill>
            <a:srgbClr val="FAFAFC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000" y="2519999"/>
            <a:ext cx="36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8A5A00"/>
                </a:solidFill>
                <a:latin typeface="Consola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" y="2412000"/>
            <a:ext cx="64800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41422"/>
                </a:solidFill>
                <a:latin typeface="Segoe UI"/>
              </a:rPr>
              <a:t>Optimisation et enrichissement des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8000" y="24408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70">
                <a:solidFill>
                  <a:srgbClr val="8A5A00"/>
                </a:solidFill>
                <a:latin typeface="Consolas"/>
              </a:rPr>
              <a:t>EN COURS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000" y="2664000"/>
            <a:ext cx="103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Arrêt anticipé de la collecte (−45 % de trafic), périmètre porté à 54 pays.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Reste : brancher un canal de sortie pour les alertes.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3204000"/>
            <a:ext cx="11112000" cy="864000"/>
          </a:xfrm>
          <a:prstGeom prst="rect">
            <a:avLst/>
          </a:prstGeom>
          <a:solidFill>
            <a:srgbClr val="FAFAFC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000" y="3455999"/>
            <a:ext cx="36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5B2EC4"/>
                </a:solidFill>
                <a:latin typeface="Consola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0" y="3348000"/>
            <a:ext cx="64800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41422"/>
                </a:solidFill>
                <a:latin typeface="Segoe UI"/>
              </a:rPr>
              <a:t>Agent IA autonome de campagnes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8000" y="33768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70">
                <a:solidFill>
                  <a:srgbClr val="5B2EC4"/>
                </a:solidFill>
                <a:latin typeface="Consolas"/>
              </a:rPr>
              <a:t>À VENIR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0000" y="3600000"/>
            <a:ext cx="103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Les quatre entrées nécessaires existent déjà : un déclencheur (l'alerte),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un périmètre (la filiale), un motif (les termes), des preuves (les verbatims).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4140000"/>
            <a:ext cx="11112000" cy="864000"/>
          </a:xfrm>
          <a:prstGeom prst="rect">
            <a:avLst/>
          </a:prstGeom>
          <a:solidFill>
            <a:srgbClr val="FAFAFC"/>
          </a:solidFill>
          <a:ln w="9525">
            <a:solidFill>
              <a:srgbClr val="DE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000" y="4391999"/>
            <a:ext cx="36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6B49"/>
                </a:solidFill>
                <a:latin typeface="Consola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0000" y="4284000"/>
            <a:ext cx="6480000" cy="22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41422"/>
                </a:solidFill>
                <a:latin typeface="Segoe UI"/>
              </a:rPr>
              <a:t>Tests, documentation et soutenance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8000" y="43128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70">
                <a:solidFill>
                  <a:srgbClr val="0F6B49"/>
                </a:solidFill>
                <a:latin typeface="Consolas"/>
              </a:rPr>
              <a:t>EN CONTINU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000" y="4536000"/>
            <a:ext cx="103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6B82"/>
                </a:solidFill>
                <a:latin typeface="Segoe UI"/>
              </a:rPr>
              <a:t>113 tests automatisés, guide de déploiement à jour, présentation en cours.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5201999"/>
            <a:ext cx="11112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E3E52"/>
                </a:solidFill>
                <a:latin typeface="Segoe UI"/>
              </a:rPr>
              <a:t>L'objectif de la phase 7 : passer d'un système qui CONSTATE à un système qui PROPOSE.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3E3E52"/>
                </a:solidFill>
                <a:latin typeface="Segoe UI"/>
              </a:rPr>
              <a:t>Aujourd'hui le dashboard dit « Orange Mali décroche, motif : arnaque, voici les avis ».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3E3E52"/>
                </a:solidFill>
                <a:latin typeface="Segoe UI"/>
              </a:rPr>
              <a:t>Demain, un agent en tirera une proposition de campagne, puis en suivra l'exécution.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